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ato"/>
      <p:regular r:id="rId201314"/>
    </p:embeddedFont>
    <p:embeddedFont>
      <p:font typeface="Lato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jpe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9310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Azure Virtual Machine Extension Standardisation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578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Project 24CC3046-P090 — Category: Operations. Cross-team initiative between T090 and T192 to ensure consistent, reliable VM extension state across subscriptions.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577755"/>
            <a:ext cx="1168073" cy="287139"/>
          </a:xfrm>
          <a:prstGeom prst="roundRect">
            <a:avLst>
              <a:gd name="adj" fmla="val 7899"/>
            </a:avLst>
          </a:prstGeom>
          <a:solidFill>
            <a:srgbClr val="E7E7E4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634409"/>
            <a:ext cx="15508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OPERATIONS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95887" y="4577755"/>
            <a:ext cx="1076993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828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9292" y="4634409"/>
            <a:ext cx="145976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T090 • T192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01514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Problem Statement &amp; Key Use Cases</a:t>
            </a:r>
            <a:endParaRPr lang="en-US" sz="2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757462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2062" y="1757462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Problem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942062" y="2166144"/>
            <a:ext cx="558815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VMs sometimes have missing or failed extensions leaving machines partially configured. Multiple agents may conflict and consume CPU, memory and network.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451423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2062" y="3451423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Use Case — Detection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942062" y="3860105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 VMs missing required monitoring or security agents across subscriptions and resource groups.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842966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42062" y="4842966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Use Case — Remediation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942062" y="5251648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Automated, policy-driven remediation to install or repair approved extensions and verify success.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017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Objectives — What Success Looks Like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2110680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2299692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Discover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2708374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Automatically find all Azure VMs using Resource Graph + tags.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110680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7" name="Text 5"/>
          <p:cNvSpPr/>
          <p:nvPr/>
        </p:nvSpPr>
        <p:spPr>
          <a:xfrm>
            <a:off x="4536366" y="2299692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Inspect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2708374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Enumerate installed extensions, versions, and statuses.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110680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10" name="Text 8"/>
          <p:cNvSpPr/>
          <p:nvPr/>
        </p:nvSpPr>
        <p:spPr>
          <a:xfrm>
            <a:off x="8222251" y="2299692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Check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2708374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Compare installed extensions against the standard compliance baseline.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691235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13" name="Text 11"/>
          <p:cNvSpPr/>
          <p:nvPr/>
        </p:nvSpPr>
        <p:spPr>
          <a:xfrm>
            <a:off x="850482" y="388024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Detect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0482" y="428892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Flag missing, failed, or conflicting agents for action.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347359" y="3691235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16" name="Text 14"/>
          <p:cNvSpPr/>
          <p:nvPr/>
        </p:nvSpPr>
        <p:spPr>
          <a:xfrm>
            <a:off x="4536366" y="388024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Remediate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4536366" y="428892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Apply approved extensions via automation runbooks or Azure SDK.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33244" y="3691235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2251" y="388024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Verify &amp; Report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8222251" y="428892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state post-remediation and generate compliance reports.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1475" y="529540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Main flow: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Discover → Inspect → Check → Detect → Remediate → Verify → Report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2237"/>
            <a:ext cx="10868745" cy="391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Proposed System Architecture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242715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009523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Compliance Engine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93351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Extension Inspection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86837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Azure VMs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792373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Azure Subscription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36766"/>
            <a:ext cx="1147833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Centralised compliance engine driven by discovery feeds, inspection agents (read-only + remediation), and monitoring pipelines feeding dashboards and alerts.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477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Azure Requirements &amp; Supporting Services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92970"/>
            <a:ext cx="4637269" cy="26278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6251" y="2110780"/>
            <a:ext cx="6379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services required: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766251" y="2583259"/>
            <a:ext cx="5770220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Azure VMs — target machines for standardisation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Virtual Network &amp; Subnets — ensure reachability for agents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VM Extensions — the objects being standardised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Azure Monitor Agent + Log Analytics — monitoring &amp; evidence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Resource Graph — fast VM/resource discovery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+ Azure SDK — automation and orchestration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766251" y="4898231"/>
            <a:ext cx="5770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Optional supporting services: Azure Automation, Defender for Cloud, Key Vault (secrets), Storage accounts for artefacts.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690"/>
            <a:ext cx="10868745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Functional Requirements (FR)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61475" y="962918"/>
            <a:ext cx="259153" cy="25915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4" name="Text 2"/>
          <p:cNvSpPr/>
          <p:nvPr/>
        </p:nvSpPr>
        <p:spPr>
          <a:xfrm>
            <a:off x="704684" y="984548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90774" y="1002506"/>
            <a:ext cx="1053944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FR-01 Discover VMs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0774" y="1224459"/>
            <a:ext cx="1053944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Scheduled and on-demand scans via Resource Graph.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1475" y="1512987"/>
            <a:ext cx="259153" cy="25915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704684" y="1534616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774" y="1552575"/>
            <a:ext cx="1053944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FR-02 Inspect Extensions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0774" y="1774527"/>
            <a:ext cx="1053944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Collect extension name, version, publisher, status and timestamp.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1475" y="2063055"/>
            <a:ext cx="259153" cy="25915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2" name="Text 10"/>
          <p:cNvSpPr/>
          <p:nvPr/>
        </p:nvSpPr>
        <p:spPr>
          <a:xfrm>
            <a:off x="704684" y="2084685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90774" y="2102644"/>
            <a:ext cx="1053944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FR-03 Check Compliance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90774" y="2324596"/>
            <a:ext cx="1053944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Compare against an approved extension manifest per workload type.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1475" y="2613124"/>
            <a:ext cx="259153" cy="25915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6" name="Text 14"/>
          <p:cNvSpPr/>
          <p:nvPr/>
        </p:nvSpPr>
        <p:spPr>
          <a:xfrm>
            <a:off x="704684" y="2634754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90774" y="2652713"/>
            <a:ext cx="1053944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FR-04 Detect Missing/Failed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0774" y="2874665"/>
            <a:ext cx="1053944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Generate tickets/alerts for non-compliant VMs.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1475" y="3163193"/>
            <a:ext cx="259153" cy="25915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20" name="Text 18"/>
          <p:cNvSpPr/>
          <p:nvPr/>
        </p:nvSpPr>
        <p:spPr>
          <a:xfrm>
            <a:off x="704684" y="3184823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90774" y="3202781"/>
            <a:ext cx="1053944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FR-05 Remediate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0774" y="3424734"/>
            <a:ext cx="1053944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install/repair using managed identity or runbooks.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1475" y="3713262"/>
            <a:ext cx="259153" cy="25915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24" name="Text 22"/>
          <p:cNvSpPr/>
          <p:nvPr/>
        </p:nvSpPr>
        <p:spPr>
          <a:xfrm>
            <a:off x="704684" y="3734891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6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90774" y="3752850"/>
            <a:ext cx="1053944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FR-06 Verify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0774" y="3974802"/>
            <a:ext cx="1053944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Re-inspect post-remediation to confirm healthy extension state.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1475" y="4263330"/>
            <a:ext cx="259153" cy="25915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28" name="Text 26"/>
          <p:cNvSpPr/>
          <p:nvPr/>
        </p:nvSpPr>
        <p:spPr>
          <a:xfrm>
            <a:off x="704684" y="4284960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7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90774" y="4302919"/>
            <a:ext cx="1053944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FR-07 Report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0774" y="4524871"/>
            <a:ext cx="1053944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Compliance reports per subscription, RG, tag and team.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1475" y="4813399"/>
            <a:ext cx="259153" cy="25915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32" name="Text 30"/>
          <p:cNvSpPr/>
          <p:nvPr/>
        </p:nvSpPr>
        <p:spPr>
          <a:xfrm>
            <a:off x="704684" y="4835029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90774" y="4852987"/>
            <a:ext cx="1053944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FR-08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90774" y="5074940"/>
            <a:ext cx="1053944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Visual summary: compliance %, failing extensions, remediation backlog.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1475" y="5363468"/>
            <a:ext cx="259153" cy="25915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36" name="Text 34"/>
          <p:cNvSpPr/>
          <p:nvPr/>
        </p:nvSpPr>
        <p:spPr>
          <a:xfrm>
            <a:off x="704684" y="5385098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9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90774" y="5403056"/>
            <a:ext cx="1053944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FR-09 Alerts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0774" y="5625009"/>
            <a:ext cx="1053944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Actionable alerts to teams with remediation links.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1475" y="5913537"/>
            <a:ext cx="259153" cy="25915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40" name="Text 38"/>
          <p:cNvSpPr/>
          <p:nvPr/>
        </p:nvSpPr>
        <p:spPr>
          <a:xfrm>
            <a:off x="704684" y="5935166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10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90774" y="5953125"/>
            <a:ext cx="1053944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FR-10 Scheduled Scans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90774" y="6175077"/>
            <a:ext cx="1053944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Configurable cadence with throttling and delta-only scans.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158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Modules &amp; Responsibilities</a:t>
            </a:r>
            <a:endParaRPr lang="en-US" sz="1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17067"/>
            <a:ext cx="6978972" cy="39547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662" y="955080"/>
            <a:ext cx="662665" cy="6626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21001" y="955080"/>
            <a:ext cx="2915470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M1 — VM Discovery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8621001" y="1165225"/>
            <a:ext cx="291547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Resource Graph queries, tag-based filters, scheduler service.</a:t>
            </a:r>
            <a:endParaRPr lang="en-US" sz="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662" y="1724422"/>
            <a:ext cx="662665" cy="6626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21001" y="1724422"/>
            <a:ext cx="2915470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M2 — Extension Inspection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8621001" y="1934567"/>
            <a:ext cx="291547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Gather extension inventory and health metadata.</a:t>
            </a:r>
            <a:endParaRPr lang="en-US" sz="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662" y="2493764"/>
            <a:ext cx="662665" cy="6626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21001" y="2493764"/>
            <a:ext cx="2915470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M3 — Compliance Engine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8621001" y="2703909"/>
            <a:ext cx="291547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Ruleset evaluation, baseline manifests and policy definitions.</a:t>
            </a:r>
            <a:endParaRPr lang="en-US" sz="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662" y="3263106"/>
            <a:ext cx="662665" cy="66268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21001" y="3263106"/>
            <a:ext cx="2915470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M4 — Remediation</a:t>
            </a:r>
            <a:endParaRPr lang="en-US" sz="950" dirty="0"/>
          </a:p>
        </p:txBody>
      </p:sp>
      <p:sp>
        <p:nvSpPr>
          <p:cNvPr id="15" name="Text 8"/>
          <p:cNvSpPr/>
          <p:nvPr/>
        </p:nvSpPr>
        <p:spPr>
          <a:xfrm>
            <a:off x="8621001" y="3473252"/>
            <a:ext cx="291547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Runbooks / SDK actions to apply or fix extensions.</a:t>
            </a:r>
            <a:endParaRPr lang="en-US" sz="7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662" y="4032448"/>
            <a:ext cx="662665" cy="66268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621001" y="4032448"/>
            <a:ext cx="2915470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M5 — Verification</a:t>
            </a:r>
            <a:endParaRPr lang="en-US" sz="950" dirty="0"/>
          </a:p>
        </p:txBody>
      </p:sp>
      <p:sp>
        <p:nvSpPr>
          <p:cNvPr id="18" name="Text 10"/>
          <p:cNvSpPr/>
          <p:nvPr/>
        </p:nvSpPr>
        <p:spPr>
          <a:xfrm>
            <a:off x="8621001" y="4242594"/>
            <a:ext cx="291547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Post-action checks and automated rechecks.</a:t>
            </a:r>
            <a:endParaRPr lang="en-US" sz="7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1662" y="4801791"/>
            <a:ext cx="662665" cy="66268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621001" y="4801791"/>
            <a:ext cx="2915470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M6–M9 — Monitoring, Dashboard, Reporting, Alerts</a:t>
            </a:r>
            <a:endParaRPr lang="en-US" sz="950" dirty="0"/>
          </a:p>
        </p:txBody>
      </p:sp>
      <p:sp>
        <p:nvSpPr>
          <p:cNvPr id="21" name="Text 12"/>
          <p:cNvSpPr/>
          <p:nvPr/>
        </p:nvSpPr>
        <p:spPr>
          <a:xfrm>
            <a:off x="8621001" y="5168801"/>
            <a:ext cx="2915470" cy="24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Telemetry ingestion, visualisation, scheduled reports and notifications.</a:t>
            </a:r>
            <a:endParaRPr lang="en-US" sz="7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662" y="5571133"/>
            <a:ext cx="662665" cy="66268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621001" y="5571133"/>
            <a:ext cx="2915470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M10 — Testing</a:t>
            </a:r>
            <a:endParaRPr lang="en-US" sz="950" dirty="0"/>
          </a:p>
        </p:txBody>
      </p:sp>
      <p:sp>
        <p:nvSpPr>
          <p:cNvPr id="24" name="Text 14"/>
          <p:cNvSpPr/>
          <p:nvPr/>
        </p:nvSpPr>
        <p:spPr>
          <a:xfrm>
            <a:off x="8621001" y="5781278"/>
            <a:ext cx="291547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harness for failure modes: missing/failed/conflict cases.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48345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Compliance &amp; Automated Remediation Flow</a:t>
            </a:r>
            <a:endParaRPr lang="en-US" sz="2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276773"/>
            <a:ext cx="6296860" cy="271541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85188" y="4477246"/>
            <a:ext cx="1428545" cy="178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Remediate &amp; Verify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85188" y="3848671"/>
            <a:ext cx="1428545" cy="178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Compliance Check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085188" y="3226445"/>
            <a:ext cx="1428545" cy="178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Extension Inspection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085188" y="2597869"/>
            <a:ext cx="1428545" cy="178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VM Discovery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61475" y="520481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Built-in safeguards: dry-run mode, approval gates for remediation, retry with exponential back-off, and detailed audit logs for every action.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1662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Risks, Cost Controls &amp; Low-cost Alternatives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2185194"/>
            <a:ext cx="5203794" cy="2689523"/>
          </a:xfrm>
          <a:prstGeom prst="roundRect">
            <a:avLst>
              <a:gd name="adj" fmla="val 1054"/>
            </a:avLst>
          </a:prstGeom>
          <a:solidFill>
            <a:srgbClr val="EFECE6"/>
          </a:solidFill>
          <a:ln w="25399">
            <a:solidFill>
              <a:srgbClr val="CBC5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399605"/>
            <a:ext cx="47749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Top Risks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2883892"/>
            <a:ext cx="4774981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Extension deployment failures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Conflicting agents causing instability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Insufficient RBAC/permission errors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Network egress/IMDS restrictions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Unexpected operational costs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32776" y="2185194"/>
            <a:ext cx="5203794" cy="3243560"/>
          </a:xfrm>
          <a:prstGeom prst="roundRect">
            <a:avLst>
              <a:gd name="adj" fmla="val 874"/>
            </a:avLst>
          </a:prstGeom>
          <a:solidFill>
            <a:srgbClr val="E5DFD2"/>
          </a:solidFill>
          <a:ln/>
        </p:spPr>
      </p:sp>
      <p:sp>
        <p:nvSpPr>
          <p:cNvPr id="7" name="Text 5"/>
          <p:cNvSpPr/>
          <p:nvPr/>
        </p:nvSpPr>
        <p:spPr>
          <a:xfrm>
            <a:off x="6521783" y="2374205"/>
            <a:ext cx="48257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Controls &amp; Cost Options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521783" y="2858492"/>
            <a:ext cx="482578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Retry + verification and rollback on failure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Least-privilege managed identities for actions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 cost with budgets and alerting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 small test VMs, student subscriptions or limited Log Analytics tiers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Option: Managed Identity instead of Key Vault for simple secrets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1614"/>
            <a:ext cx="6296860" cy="39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Testing Plan, Deliverables &amp; Next Steps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661475" y="1132086"/>
            <a:ext cx="159441" cy="1118989"/>
          </a:xfrm>
          <a:prstGeom prst="roundRect">
            <a:avLst>
              <a:gd name="adj" fmla="val 15004"/>
            </a:avLst>
          </a:prstGeom>
          <a:solidFill>
            <a:srgbClr val="E5DFD2"/>
          </a:solidFill>
          <a:ln/>
        </p:spPr>
      </p:sp>
      <p:sp>
        <p:nvSpPr>
          <p:cNvPr id="5" name="Text 2"/>
          <p:cNvSpPr/>
          <p:nvPr/>
        </p:nvSpPr>
        <p:spPr>
          <a:xfrm>
            <a:off x="955453" y="1291530"/>
            <a:ext cx="6002882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Testing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55453" y="1621334"/>
            <a:ext cx="6002882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 scenarios: compliant VM, missing extension, failed extension, remediation success/failure, verification step.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900685" y="2385616"/>
            <a:ext cx="159441" cy="1118989"/>
          </a:xfrm>
          <a:prstGeom prst="roundRect">
            <a:avLst>
              <a:gd name="adj" fmla="val 15004"/>
            </a:avLst>
          </a:prstGeom>
          <a:solidFill>
            <a:srgbClr val="E5DFD2"/>
          </a:solidFill>
          <a:ln/>
        </p:spPr>
      </p:sp>
      <p:sp>
        <p:nvSpPr>
          <p:cNvPr id="8" name="Text 5"/>
          <p:cNvSpPr/>
          <p:nvPr/>
        </p:nvSpPr>
        <p:spPr>
          <a:xfrm>
            <a:off x="1194663" y="2545060"/>
            <a:ext cx="57636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Deliverables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94663" y="2874863"/>
            <a:ext cx="576367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Azure test environment, Python source code, compliance/remediation module, scheduled reports, test evidence, GitHub repo and documentation.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139896" y="3639145"/>
            <a:ext cx="159441" cy="1730375"/>
          </a:xfrm>
          <a:prstGeom prst="roundRect">
            <a:avLst>
              <a:gd name="adj" fmla="val 15004"/>
            </a:avLst>
          </a:prstGeom>
          <a:solidFill>
            <a:srgbClr val="E5DFD2"/>
          </a:solidFill>
          <a:ln/>
        </p:spPr>
      </p:sp>
      <p:sp>
        <p:nvSpPr>
          <p:cNvPr id="11" name="Text 8"/>
          <p:cNvSpPr/>
          <p:nvPr/>
        </p:nvSpPr>
        <p:spPr>
          <a:xfrm>
            <a:off x="1433874" y="3798590"/>
            <a:ext cx="552446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Next Steps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433874" y="4128393"/>
            <a:ext cx="5524461" cy="1081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Finalise extension baseline and approval list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discovery + inspection PoC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 remediation runbooks and verification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Font typeface="+mj-lt"/>
              <a:buAutoNum type="arabicPeriod" startAt="4"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 dashboard and schedule reports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5520829"/>
            <a:ext cx="6296860" cy="805458"/>
          </a:xfrm>
          <a:prstGeom prst="roundRect">
            <a:avLst>
              <a:gd name="adj" fmla="val 2970"/>
            </a:avLst>
          </a:prstGeom>
          <a:solidFill>
            <a:srgbClr val="E7E7E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15" y="5714305"/>
            <a:ext cx="199325" cy="15944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79681" y="5695156"/>
            <a:ext cx="561921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Recommendation: start with a limited-scope pilot (1–2 subscriptions, 10–20 VMs) to validate safety and metrics before broad rollout.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2026-09-23T02:38:42Z</dcterms:created>
  <dcterms:modified xsi:type="dcterms:W3CDTF">2026-09-23T02:38:42Z</dcterms:modified>
</cp:coreProperties>
</file>